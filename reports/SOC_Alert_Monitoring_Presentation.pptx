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715" r:id="rId4"/>
    <p:sldId id="721" r:id="rId5"/>
    <p:sldId id="716" r:id="rId6"/>
    <p:sldId id="717" r:id="rId7"/>
    <p:sldId id="719" r:id="rId8"/>
    <p:sldId id="722" r:id="rId9"/>
    <p:sldId id="676" r:id="rId10"/>
    <p:sldId id="723" r:id="rId11"/>
    <p:sldId id="674" r:id="rId12"/>
    <p:sldId id="724" r:id="rId13"/>
    <p:sldId id="720" r:id="rId14"/>
    <p:sldId id="712" r:id="rId15"/>
    <p:sldId id="725"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p:scale>
          <a:sx n="80" d="100"/>
          <a:sy n="80" d="100"/>
        </p:scale>
        <p:origin x="677" y="115"/>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17-04-2026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1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6.png" /><Relationship Id="rId1" Type="http://schemas.openxmlformats.org/officeDocument/2006/relationships/slideLayout" Target="../slideLayouts/slideLayout1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13.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7.png" /><Relationship Id="rId1" Type="http://schemas.openxmlformats.org/officeDocument/2006/relationships/slideLayout" Target="../slideLayouts/slideLayout13.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80734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SOC Alert Monitoring &amp; Log Correlation</a:t>
            </a:r>
          </a:p>
          <a:p>
            <a:pPr algn="ctr"/>
            <a:r>
              <a:rPr lang="en-IN" sz="4400" dirty="0"/>
              <a:t>Using </a:t>
            </a:r>
            <a:r>
              <a:rPr lang="en-IN" sz="4400" dirty="0" err="1"/>
              <a:t>Wazuh</a:t>
            </a:r>
            <a:r>
              <a:rPr lang="en-IN" sz="4400" dirty="0"/>
              <a:t> SIEM</a:t>
            </a:r>
            <a:endParaRPr lang="en-US" sz="4400" b="1" dirty="0">
              <a:latin typeface="Calibri" panose="020F0502020204030204" pitchFamily="34" charset="0"/>
            </a:endParaRPr>
          </a:p>
        </p:txBody>
      </p:sp>
      <p:sp>
        <p:nvSpPr>
          <p:cNvPr id="3" name="TextBox 2">
            <a:extLst>
              <a:ext uri="{FF2B5EF4-FFF2-40B4-BE49-F238E27FC236}">
                <a16:creationId xmlns:a16="http://schemas.microsoft.com/office/drawing/2014/main" id="{ADE1F275-37EE-8A0B-53F9-D4AE34D681C0}"/>
              </a:ext>
            </a:extLst>
          </p:cNvPr>
          <p:cNvSpPr txBox="1"/>
          <p:nvPr/>
        </p:nvSpPr>
        <p:spPr>
          <a:xfrm>
            <a:off x="8753475" y="5905500"/>
            <a:ext cx="3328732" cy="830997"/>
          </a:xfrm>
          <a:prstGeom prst="rect">
            <a:avLst/>
          </a:prstGeom>
          <a:noFill/>
        </p:spPr>
        <p:txBody>
          <a:bodyPr wrap="none" rtlCol="0">
            <a:spAutoFit/>
          </a:bodyPr>
          <a:lstStyle/>
          <a:p>
            <a:pPr algn="ctr"/>
            <a:r>
              <a:rPr lang="en-US" sz="3200" b="1" dirty="0">
                <a:solidFill>
                  <a:schemeClr val="bg1"/>
                </a:solidFill>
              </a:rPr>
              <a:t>MOHAMMED ALI</a:t>
            </a:r>
          </a:p>
          <a:p>
            <a:pPr algn="ctr"/>
            <a:r>
              <a:rPr lang="en-US" sz="1600" b="1" dirty="0">
                <a:solidFill>
                  <a:schemeClr val="bg1"/>
                </a:solidFill>
              </a:rPr>
              <a:t>CYBERSECURITY &amp; ETHICAL HACKING</a:t>
            </a:r>
            <a:endParaRPr lang="en-IN" sz="1600" b="1"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Project Objective</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sz="1800" b="1" dirty="0"/>
              <a:t>Primary Objective</a:t>
            </a:r>
          </a:p>
          <a:p>
            <a:pPr lvl="1"/>
            <a:r>
              <a:rPr lang="en-US" sz="1500" dirty="0"/>
              <a:t>Monitor and analyze security alerts generated by Wazuh SIEM deployed on a local virtual machine environment.</a:t>
            </a:r>
          </a:p>
          <a:p>
            <a:r>
              <a:rPr lang="en-US" sz="1800" b="1" dirty="0"/>
              <a:t>Investigation Goals</a:t>
            </a:r>
          </a:p>
          <a:p>
            <a:pPr lvl="1"/>
            <a:r>
              <a:rPr lang="en-US" sz="1500" dirty="0"/>
              <a:t>Collect and classify authentication, SELinux audit, and system logs from a connected Linux agent.</a:t>
            </a:r>
          </a:p>
          <a:p>
            <a:pPr lvl="1"/>
            <a:r>
              <a:rPr lang="en-US" sz="1500" dirty="0"/>
              <a:t>Correlate events to trace a complete attack chain: failed logins → brute force → successful login session.</a:t>
            </a:r>
          </a:p>
          <a:p>
            <a:pPr lvl="1"/>
            <a:r>
              <a:rPr lang="en-US" sz="1500" dirty="0"/>
              <a:t>Map detected behaviors to MITRE ATT&amp;CK framework and compliance standards (NIST, GDPR, PCI-DSS).</a:t>
            </a:r>
          </a:p>
          <a:p>
            <a:r>
              <a:rPr lang="en-US" sz="1800" b="1" dirty="0"/>
              <a:t>Scope</a:t>
            </a:r>
          </a:p>
          <a:p>
            <a:pPr lvl="1"/>
            <a:r>
              <a:rPr lang="en-US" sz="1500" dirty="0"/>
              <a:t>Environment: Wazuh Manager (192.168.0.111) + Agent (192.168.0.112) on local network — Apr 8–9, 2026.</a:t>
            </a:r>
          </a:p>
          <a:p>
            <a:pPr lvl="1"/>
            <a:r>
              <a:rPr lang="en-US" sz="1500" dirty="0"/>
              <a:t>Log types analyzed: PAM auth, syslog, journald, SELinux auditd, Windows Event (Admin agent 004).</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SIEM Tool Used: Wazuh</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1800" b="1" dirty="0"/>
              <a:t>Tool: Wazuh (Open-Source SIEM / XDR Platform)</a:t>
            </a:r>
          </a:p>
          <a:p>
            <a:pPr lvl="1"/>
            <a:r>
              <a:rPr lang="en-US" sz="1500" dirty="0"/>
              <a:t>Deployed on local VM; Manager IP: 192.168.0.111 | Agent IP: 192.168.0.112 (wazuh-server)</a:t>
            </a:r>
          </a:p>
          <a:p>
            <a:pPr lvl="1"/>
            <a:r>
              <a:rPr lang="en-US" sz="1500" dirty="0"/>
              <a:t>Category: Open-source SIEM/XDR | Used in enterprise SOCs as an alternative to Splunk and IBM QRadar</a:t>
            </a:r>
          </a:p>
          <a:p>
            <a:r>
              <a:rPr lang="en-US" sz="1800" b="1" dirty="0"/>
              <a:t>Why Wazuh Was Selected</a:t>
            </a:r>
          </a:p>
          <a:p>
            <a:pPr lvl="1"/>
            <a:r>
              <a:rPr lang="en-US" sz="1500" dirty="0"/>
              <a:t>Free and fully open-source — suitable for lab-based SOC simulation</a:t>
            </a:r>
          </a:p>
          <a:p>
            <a:pPr lvl="1"/>
            <a:r>
              <a:rPr lang="en-US" sz="1500" dirty="0"/>
              <a:t>Native support for log collection, rule-based alerting, MITRE ATT&amp;CK mapping, and compliance (NIST, PCI-DSS, HIPAA, GDPR)</a:t>
            </a:r>
          </a:p>
          <a:p>
            <a:pPr lvl="1"/>
            <a:r>
              <a:rPr lang="en-US" sz="1500" dirty="0"/>
              <a:t>Built-in Threat Hunting, Vulnerability Detection, and File Integrity Monitoring modules visible in dashboard</a:t>
            </a:r>
          </a:p>
          <a:p>
            <a:r>
              <a:rPr lang="en-US" sz="1800" b="1" dirty="0"/>
              <a:t>Dashboard Modules Observed (from screenshots)</a:t>
            </a:r>
          </a:p>
          <a:p>
            <a:pPr lvl="1"/>
            <a:r>
              <a:rPr lang="en-US" sz="1500" dirty="0"/>
              <a:t>Endpoint Security: Configuration Assessment, Malware Detection, File Integrity Monitoring</a:t>
            </a:r>
          </a:p>
          <a:p>
            <a:pPr lvl="1"/>
            <a:r>
              <a:rPr lang="en-US" sz="1500" dirty="0"/>
              <a:t>Threat Intelligence: Threat Hunting, Vulnerability Detection, MITRE ATT&amp;CK</a:t>
            </a:r>
          </a:p>
          <a:p>
            <a:pPr lvl="1"/>
            <a:r>
              <a:rPr lang="en-US" sz="1500" dirty="0"/>
              <a:t>Security Operations: IT Hygiene, PCI DSS, GDPR, HIPAA, NIST 800-53, TSC compliance modules</a:t>
            </a:r>
          </a:p>
          <a:p>
            <a:pPr lvl="1"/>
            <a:r>
              <a:rPr lang="en-US" sz="1500" dirty="0"/>
              <a:t>Cloud Security: Docker, AWS, Google Cloud, GitHub, Office 365, Microsoft Graph API integration</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C96E-A715-5055-E1AE-29E69D0ED1F5}"/>
              </a:ext>
            </a:extLst>
          </p:cNvPr>
          <p:cNvSpPr>
            <a:spLocks noGrp="1"/>
          </p:cNvSpPr>
          <p:nvPr>
            <p:ph type="title"/>
          </p:nvPr>
        </p:nvSpPr>
        <p:spPr/>
        <p:txBody>
          <a:bodyPr>
            <a:normAutofit fontScale="90000"/>
          </a:bodyPr>
          <a:lstStyle/>
          <a:p>
            <a:r>
              <a:rPr lang="en-US" dirty="0" err="1"/>
              <a:t>Wazuh</a:t>
            </a:r>
            <a:r>
              <a:rPr lang="en-US" dirty="0"/>
              <a:t> Dashboard</a:t>
            </a:r>
            <a:br>
              <a:rPr lang="en-US" dirty="0"/>
            </a:br>
            <a:endParaRPr lang="en-IN" dirty="0"/>
          </a:p>
        </p:txBody>
      </p:sp>
      <p:pic>
        <p:nvPicPr>
          <p:cNvPr id="20" name="WazuhOverview"/>
          <p:cNvPicPr>
            <a:picLocks noChangeAspect="1"/>
          </p:cNvPicPr>
          <p:nvPr/>
        </p:nvPicPr>
        <p:blipFill>
          <a:blip r:embed="rId2"/>
          <a:stretch>
            <a:fillRect/>
          </a:stretch>
        </p:blipFill>
        <p:spPr>
          <a:xfrm>
            <a:off x="235518" y="1216441"/>
            <a:ext cx="11642446" cy="4390031"/>
          </a:xfrm>
          <a:prstGeom prst="rect">
            <a:avLst/>
          </a:prstGeom>
        </p:spPr>
      </p:pic>
    </p:spTree>
    <p:extLst>
      <p:ext uri="{BB962C8B-B14F-4D97-AF65-F5344CB8AC3E}">
        <p14:creationId xmlns:p14="http://schemas.microsoft.com/office/powerpoint/2010/main" val="335888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Architecture &amp; Lab Setup</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stStyle>
          <a:p>
            <a:r>
              <a:rPr lang="en-US" sz="1700" b="1" dirty="0"/>
              <a:t>Lab Environment (Evidence from Screenshots)</a:t>
            </a:r>
          </a:p>
          <a:p>
            <a:pPr lvl="1"/>
            <a:r>
              <a:rPr lang="en-US" sz="1400" dirty="0"/>
              <a:t>Wazuh Manager: 192.168.0.111 — hosts the SIEM dashboard, indexer, alerting engine and rule repository</a:t>
            </a:r>
          </a:p>
          <a:p>
            <a:pPr lvl="1"/>
            <a:r>
              <a:rPr lang="en-US" sz="1400" dirty="0"/>
              <a:t>Linux Agent: 192.168.0.112 | hostname: wazuh-server | agent name: wazuh-server | agent ID: 000</a:t>
            </a:r>
          </a:p>
          <a:p>
            <a:pPr lvl="1"/>
            <a:r>
              <a:rPr lang="en-US" sz="1400" dirty="0"/>
              <a:t>Windows Agent: 192.168.0.110 | agent name: Admin | agent ID: 004 — forwarding Windows Event logs (EventID 16384)</a:t>
            </a:r>
          </a:p>
          <a:p>
            <a:r>
              <a:rPr lang="en-US" sz="1700" b="1" dirty="0"/>
              <a:t>Agent Deployment Status (Before vs After)</a:t>
            </a:r>
          </a:p>
          <a:p>
            <a:pPr lvl="1"/>
            <a:r>
              <a:rPr lang="en-US" sz="1400" dirty="0"/>
              <a:t>Before: “This instance has no agents registered” — 9 Medium + 52 Low alerts (base noise only)</a:t>
            </a:r>
          </a:p>
          <a:p>
            <a:pPr lvl="1"/>
            <a:r>
              <a:rPr lang="en-US" sz="1400" dirty="0"/>
              <a:t>After: Active (1), Disconnected (0) — alert jump to 361 Medium + 188 Low (confirmed in dashboard screenshots)</a:t>
            </a:r>
          </a:p>
          <a:p>
            <a:r>
              <a:rPr lang="en-US" sz="1700" b="1" dirty="0"/>
              <a:t>Log Collection Pipeline</a:t>
            </a:r>
          </a:p>
          <a:p>
            <a:pPr lvl="1"/>
            <a:r>
              <a:rPr lang="en-US" sz="1400" dirty="0"/>
              <a:t>journald → Wazuh Agent (192.168.0.112) → Manager (192.168.0.111:1514) → OpenSearch Indexer → Dashboard</a:t>
            </a:r>
          </a:p>
          <a:p>
            <a:pPr lvl="1"/>
            <a:r>
              <a:rPr lang="en-US" sz="1400" dirty="0"/>
              <a:t>/var/log/audit/audit.log → auditd decoder → SELinux AVC rules triggered (Rule 80730)</a:t>
            </a:r>
          </a:p>
          <a:p>
            <a:pPr lvl="1"/>
            <a:r>
              <a:rPr lang="en-US" sz="1400" dirty="0"/>
              <a:t>Index: wazuh-alerts-4.x-2026.04.08 | 652 available fields | 35 events in 15-min Threat Hunting window</a:t>
            </a:r>
          </a:p>
        </p:txBody>
      </p:sp>
    </p:spTree>
    <p:extLst>
      <p:ext uri="{BB962C8B-B14F-4D97-AF65-F5344CB8AC3E}">
        <p14:creationId xmlns:p14="http://schemas.microsoft.com/office/powerpoint/2010/main" val="227245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Log Sources &amp; Data Collection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1800" b="1" dirty="0"/>
              <a:t>Authentication Logs (journald / PAM)</a:t>
            </a:r>
          </a:p>
          <a:p>
            <a:pPr lvl="1"/>
            <a:r>
              <a:rPr lang="en-US" sz="1500" dirty="0"/>
              <a:t>Source: journald | Decoder: pam | Agent: wazuh-server (000)</a:t>
            </a:r>
          </a:p>
          <a:p>
            <a:pPr lvl="1"/>
            <a:r>
              <a:rPr lang="en-US" sz="1500" dirty="0"/>
              <a:t>Events: PAM: Login session opened (Rule 5501), PAM: User login failed (Rule 5503), unix_chkpwd: Password check failed (Rule 5557)</a:t>
            </a:r>
          </a:p>
          <a:p>
            <a:pPr lvl="1"/>
            <a:r>
              <a:rPr lang="en-US" sz="1500" dirty="0"/>
              <a:t>Full log example: “wazuh-server login[5757]: pam_unix(login:session): session opened for user wazuh-user(uid=1000) by (uid=0)”</a:t>
            </a:r>
          </a:p>
          <a:p>
            <a:r>
              <a:rPr lang="en-US" sz="1800" b="1" dirty="0"/>
              <a:t>SELinux / Audit Logs (/var/log/audit/audit.log)</a:t>
            </a:r>
          </a:p>
          <a:p>
            <a:pPr lvl="1"/>
            <a:r>
              <a:rPr lang="en-US" sz="1500" dirty="0"/>
              <a:t>Decoder: auditd | Type: AVC | Rule 80730 (Level 3) — SELinux permission check</a:t>
            </a:r>
          </a:p>
          <a:p>
            <a:pPr lvl="1"/>
            <a:r>
              <a:rPr lang="en-US" sz="1500" dirty="0"/>
              <a:t>Full log: “type=AVC msg=audit: avc: denied {open/read/getattr} for pid=5757 comm=login path=/var/lib/update-motd/motd”</a:t>
            </a:r>
          </a:p>
          <a:p>
            <a:r>
              <a:rPr lang="en-US" sz="1800" b="1" dirty="0"/>
              <a:t>Syslog (access_control)</a:t>
            </a:r>
          </a:p>
          <a:p>
            <a:pPr lvl="1"/>
            <a:r>
              <a:rPr lang="en-US" sz="1500" dirty="0"/>
              <a:t>Rule 2501 (Level 5): “syslog: User authentication failure”</a:t>
            </a:r>
          </a:p>
          <a:p>
            <a:pPr lvl="1"/>
            <a:r>
              <a:rPr lang="en-US" sz="1500" dirty="0"/>
              <a:t>Full log: “FAILED LOGIN 1 FROM tty1 FOR wazuh-user, Authentication failure” — Apr 8, 2026 @ 18:23:36</a:t>
            </a:r>
          </a:p>
          <a:p>
            <a:r>
              <a:rPr lang="en-US" sz="1800" b="1" dirty="0"/>
              <a:t>Windows Event Logs (Admin Agent 004)</a:t>
            </a:r>
          </a:p>
          <a:p>
            <a:pPr lvl="1"/>
            <a:r>
              <a:rPr lang="en-US" sz="1500" dirty="0"/>
              <a:t>Agent IP: 192.168.0.110 | EventID 16384 | Source: Software Protection Platform Service — scheduled restart events</a:t>
            </a:r>
          </a:p>
        </p:txBody>
      </p:sp>
    </p:spTree>
    <p:extLst>
      <p:ext uri="{BB962C8B-B14F-4D97-AF65-F5344CB8AC3E}">
        <p14:creationId xmlns:p14="http://schemas.microsoft.com/office/powerpoint/2010/main" val="227245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Alert Detection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1800" b="1" dirty="0"/>
              <a:t>24-Hour Alert Summary (Dashboard Evidence)</a:t>
            </a:r>
          </a:p>
          <a:p>
            <a:pPr lvl="1"/>
            <a:r>
              <a:rPr lang="en-US" sz="1500" dirty="0"/>
              <a:t>Critical (Rule level ≥15): 0 | High (Rule level 12–14): 0</a:t>
            </a:r>
          </a:p>
          <a:p>
            <a:pPr lvl="1"/>
            <a:r>
              <a:rPr lang="en-US" sz="1500" dirty="0"/>
              <a:t>Medium (Rule level 7–11): 361 alerts — Primary concern for investigation</a:t>
            </a:r>
          </a:p>
          <a:p>
            <a:pPr lvl="1"/>
            <a:r>
              <a:rPr lang="en-US" sz="1500" dirty="0"/>
              <a:t>Low (Rule level 0–6): 188 alerts — Background noise, SELinux AVC denials</a:t>
            </a:r>
          </a:p>
          <a:p>
            <a:r>
              <a:rPr lang="en-US" sz="1800" b="1" dirty="0"/>
              <a:t>Key Alerts Triggered (from Threat Hunting view)</a:t>
            </a:r>
          </a:p>
          <a:p>
            <a:pPr lvl="1"/>
            <a:r>
              <a:rPr lang="en-US" sz="1500" dirty="0"/>
              <a:t>Rule 2501 (Level 5): syslog: User authentication failure — Apr 8 @ 23:53:36 | firedtimes: 4</a:t>
            </a:r>
          </a:p>
          <a:p>
            <a:pPr lvl="1"/>
            <a:r>
              <a:rPr lang="en-US" sz="1500" dirty="0"/>
              <a:t>Rule 5503 (Level 5): PAM: User login failed — Apr 8 @ 23:53:34 | agent: wazuh-server</a:t>
            </a:r>
          </a:p>
          <a:p>
            <a:pPr lvl="1"/>
            <a:r>
              <a:rPr lang="en-US" sz="1500" dirty="0"/>
              <a:t>Rule 5557 (Level 5): unix_chkpwd: Password check failed — Apr 8 @ 23:53:34</a:t>
            </a:r>
          </a:p>
          <a:p>
            <a:pPr lvl="1"/>
            <a:r>
              <a:rPr lang="en-US" sz="1500" dirty="0"/>
              <a:t>Rule 80730 (Level 3): Auditd: SELinux permission check — Apr 8 @ 23:53:46 | firedtimes: 4–6</a:t>
            </a:r>
          </a:p>
          <a:p>
            <a:pPr lvl="1"/>
            <a:r>
              <a:rPr lang="en-US" sz="1500" dirty="0"/>
              <a:t>Rule 5501 (Level 3): PAM: Login session opened — Apr 8 @ 23:53:46 | firedtimes: 8 (escalating pattern)</a:t>
            </a:r>
          </a:p>
          <a:p>
            <a:r>
              <a:rPr lang="en-US" sz="1800" b="1" dirty="0"/>
              <a:t>Event Spike Observed</a:t>
            </a:r>
          </a:p>
          <a:p>
            <a:pPr lvl="1"/>
            <a:r>
              <a:rPr lang="en-US" sz="1500" dirty="0"/>
              <a:t>Threat Hunting timeline (23:39–23:54) shows 35 total hits; sharp event spike at 23:53–23:54 UTC (see screenshot)</a:t>
            </a:r>
          </a:p>
        </p:txBody>
      </p:sp>
    </p:spTree>
    <p:extLst>
      <p:ext uri="{BB962C8B-B14F-4D97-AF65-F5344CB8AC3E}">
        <p14:creationId xmlns:p14="http://schemas.microsoft.com/office/powerpoint/2010/main" val="2272459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lertsDash"/>
          <p:cNvPicPr>
            <a:picLocks noChangeAspect="1"/>
          </p:cNvPicPr>
          <p:nvPr/>
        </p:nvPicPr>
        <p:blipFill>
          <a:blip r:embed="rId2"/>
          <a:stretch>
            <a:fillRect/>
          </a:stretch>
        </p:blipFill>
        <p:spPr>
          <a:xfrm>
            <a:off x="189345" y="1884218"/>
            <a:ext cx="5832764" cy="3596581"/>
          </a:xfrm>
          <a:prstGeom prst="rect">
            <a:avLst/>
          </a:prstGeom>
        </p:spPr>
      </p:pic>
      <p:pic>
        <p:nvPicPr>
          <p:cNvPr id="21" name="ThreatHunt"/>
          <p:cNvPicPr>
            <a:picLocks noChangeAspect="1"/>
          </p:cNvPicPr>
          <p:nvPr/>
        </p:nvPicPr>
        <p:blipFill>
          <a:blip r:embed="rId3"/>
          <a:stretch>
            <a:fillRect/>
          </a:stretch>
        </p:blipFill>
        <p:spPr>
          <a:xfrm>
            <a:off x="6095999" y="1884219"/>
            <a:ext cx="5906655" cy="3596582"/>
          </a:xfrm>
          <a:prstGeom prst="rect">
            <a:avLst/>
          </a:prstGeom>
        </p:spPr>
      </p:pic>
      <p:sp>
        <p:nvSpPr>
          <p:cNvPr id="4" name="TextBox 3">
            <a:extLst>
              <a:ext uri="{FF2B5EF4-FFF2-40B4-BE49-F238E27FC236}">
                <a16:creationId xmlns:a16="http://schemas.microsoft.com/office/drawing/2014/main" id="{3A3CA71B-0845-3F3A-44C3-A16141115A01}"/>
              </a:ext>
            </a:extLst>
          </p:cNvPr>
          <p:cNvSpPr txBox="1"/>
          <p:nvPr/>
        </p:nvSpPr>
        <p:spPr>
          <a:xfrm>
            <a:off x="370310" y="720436"/>
            <a:ext cx="5906654" cy="1354217"/>
          </a:xfrm>
          <a:prstGeom prst="rect">
            <a:avLst/>
          </a:prstGeom>
          <a:noFill/>
        </p:spPr>
        <p:txBody>
          <a:bodyPr wrap="square" rtlCol="0">
            <a:spAutoFit/>
          </a:bodyPr>
          <a:lstStyle/>
          <a:p>
            <a:r>
              <a:rPr lang="en-US" sz="3200" b="1" dirty="0"/>
              <a:t>Key Alerts Triggered and Alert Summary</a:t>
            </a:r>
          </a:p>
          <a:p>
            <a:endParaRPr lang="en-IN" dirty="0"/>
          </a:p>
        </p:txBody>
      </p:sp>
    </p:spTree>
    <p:extLst>
      <p:ext uri="{BB962C8B-B14F-4D97-AF65-F5344CB8AC3E}">
        <p14:creationId xmlns:p14="http://schemas.microsoft.com/office/powerpoint/2010/main" val="1869634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SOC Investigation Steps</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pPr marL="0" indent="0">
              <a:buNone/>
            </a:pPr>
            <a:r>
              <a:rPr lang="en-US" sz="1600" b="1" dirty="0"/>
              <a:t>Step 1: Initial Failed Login Detected</a:t>
            </a:r>
          </a:p>
          <a:p>
            <a:pPr marL="0" indent="0">
              <a:buNone/>
            </a:pPr>
            <a:r>
              <a:rPr lang="en-US" sz="1300" dirty="0"/>
              <a:t>Apr 8 @ 18:23:36 | Rule 2501 (Level 5)</a:t>
            </a:r>
          </a:p>
          <a:p>
            <a:pPr marL="0" indent="0">
              <a:buNone/>
            </a:pPr>
            <a:r>
              <a:rPr lang="en-US" sz="1300" dirty="0"/>
              <a:t>syslog: FAILED LOGIN 1 FROM tty1 FOR wazuh-user. Rule groups: access_control, authentication_failed. Firedtimes: 4</a:t>
            </a:r>
          </a:p>
          <a:p>
            <a:pPr marL="0" indent="0">
              <a:buNone/>
            </a:pPr>
            <a:r>
              <a:rPr lang="en-US" sz="1600" b="1" dirty="0"/>
              <a:t>Step 2: Password Check Failure Confirmed</a:t>
            </a:r>
          </a:p>
          <a:p>
            <a:pPr marL="0" indent="0">
              <a:buNone/>
            </a:pPr>
            <a:r>
              <a:rPr lang="en-US" sz="1300" dirty="0"/>
              <a:t>Apr 8 @ 23:53:34 | Rules 5503 + 5557 (Level 5)</a:t>
            </a:r>
          </a:p>
          <a:p>
            <a:pPr marL="0" indent="0">
              <a:buNone/>
            </a:pPr>
            <a:r>
              <a:rPr lang="en-US" sz="1300" dirty="0"/>
              <a:t>PAM: User login failed + unix_chkpwd: Password check failed. Confirms brute-force pattern against wazuh-user account.</a:t>
            </a:r>
          </a:p>
          <a:p>
            <a:pPr marL="0" indent="0">
              <a:buNone/>
            </a:pPr>
            <a:r>
              <a:rPr lang="en-US" sz="1600" b="1" dirty="0"/>
              <a:t>Step 3: SELinux AVC Denial During Login</a:t>
            </a:r>
          </a:p>
          <a:p>
            <a:pPr marL="0" indent="0">
              <a:buNone/>
            </a:pPr>
            <a:r>
              <a:rPr lang="en-US" sz="1300" dirty="0"/>
              <a:t>Apr 8 @ 23:53:46 | Rule 80730 (Level 3)</a:t>
            </a:r>
          </a:p>
          <a:p>
            <a:pPr marL="0" indent="0">
              <a:buNone/>
            </a:pPr>
            <a:r>
              <a:rPr lang="en-US" sz="1300" dirty="0"/>
              <a:t>auditd: avc denied {open, read, getattr} for pid=5757 comm=login path=/var/lib/update-motd/motd. SELinux blocked file access during login process.</a:t>
            </a:r>
          </a:p>
          <a:p>
            <a:pPr marL="0" indent="0">
              <a:buNone/>
            </a:pPr>
            <a:r>
              <a:rPr lang="en-US" sz="1600" b="1" dirty="0"/>
              <a:t>Step 4: Successful Login Session Established</a:t>
            </a:r>
          </a:p>
          <a:p>
            <a:pPr marL="0" indent="0">
              <a:buNone/>
            </a:pPr>
            <a:r>
              <a:rPr lang="en-US" sz="1300" dirty="0"/>
              <a:t>Apr 8 @ 18:23:46 | Rule 5501 (Level 3) | Firedtimes: 8</a:t>
            </a:r>
          </a:p>
          <a:p>
            <a:pPr marL="0" indent="0">
              <a:buNone/>
            </a:pPr>
            <a:r>
              <a:rPr lang="en-US" sz="1300" dirty="0"/>
              <a:t>PAM: Login session opened for wazuh-user (uid=1000) by (uid=0). MITRE T1078: Valid Accounts. Tactics: Initial Access, Persistence, Privilege Escalation.</a:t>
            </a:r>
          </a:p>
          <a:p>
            <a:pPr marL="0" indent="0">
              <a:buNone/>
            </a:pPr>
            <a:r>
              <a:rPr lang="en-US" sz="1600" b="1" dirty="0"/>
              <a:t>Step 5: Windows Agent Activity (Admin 004)</a:t>
            </a:r>
          </a:p>
          <a:p>
            <a:pPr marL="0" indent="0">
              <a:buNone/>
            </a:pPr>
            <a:r>
              <a:rPr lang="en-US" sz="1300" dirty="0"/>
              <a:t>Apr 9 @ 00:02:07 | EventID 16384 | Agent IP: 192.168.0.110</a:t>
            </a:r>
          </a:p>
          <a:p>
            <a:pPr marL="0" indent="0">
              <a:buNone/>
            </a:pPr>
            <a:r>
              <a:rPr lang="en-US" sz="1300" dirty="0"/>
              <a:t>Software Protection Platform Service restart scheduled. Separate from Linux auth chain — system maintenance activity on Admin host.</a:t>
            </a:r>
          </a:p>
        </p:txBody>
      </p:sp>
    </p:spTree>
    <p:extLst>
      <p:ext uri="{BB962C8B-B14F-4D97-AF65-F5344CB8AC3E}">
        <p14:creationId xmlns:p14="http://schemas.microsoft.com/office/powerpoint/2010/main" val="2845992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AMLogin"/>
          <p:cNvPicPr>
            <a:picLocks noChangeAspect="1"/>
          </p:cNvPicPr>
          <p:nvPr/>
        </p:nvPicPr>
        <p:blipFill>
          <a:blip r:embed="rId2"/>
          <a:stretch>
            <a:fillRect/>
          </a:stretch>
        </p:blipFill>
        <p:spPr>
          <a:xfrm>
            <a:off x="221673" y="2354327"/>
            <a:ext cx="5770327" cy="3362982"/>
          </a:xfrm>
          <a:prstGeom prst="rect">
            <a:avLst/>
          </a:prstGeom>
        </p:spPr>
      </p:pic>
      <p:pic>
        <p:nvPicPr>
          <p:cNvPr id="21" name="AuthFail"/>
          <p:cNvPicPr>
            <a:picLocks noChangeAspect="1"/>
          </p:cNvPicPr>
          <p:nvPr/>
        </p:nvPicPr>
        <p:blipFill>
          <a:blip r:embed="rId3"/>
          <a:stretch>
            <a:fillRect/>
          </a:stretch>
        </p:blipFill>
        <p:spPr>
          <a:xfrm>
            <a:off x="6095999" y="2354327"/>
            <a:ext cx="5966691" cy="3362982"/>
          </a:xfrm>
          <a:prstGeom prst="rect">
            <a:avLst/>
          </a:prstGeom>
        </p:spPr>
      </p:pic>
      <p:sp>
        <p:nvSpPr>
          <p:cNvPr id="2" name="TextBox 1">
            <a:extLst>
              <a:ext uri="{FF2B5EF4-FFF2-40B4-BE49-F238E27FC236}">
                <a16:creationId xmlns:a16="http://schemas.microsoft.com/office/drawing/2014/main" id="{4DF6C469-7502-79D1-FC43-3D788187E46D}"/>
              </a:ext>
            </a:extLst>
          </p:cNvPr>
          <p:cNvSpPr txBox="1"/>
          <p:nvPr/>
        </p:nvSpPr>
        <p:spPr>
          <a:xfrm>
            <a:off x="221673" y="666750"/>
            <a:ext cx="4226501" cy="1077218"/>
          </a:xfrm>
          <a:prstGeom prst="rect">
            <a:avLst/>
          </a:prstGeom>
          <a:noFill/>
        </p:spPr>
        <p:txBody>
          <a:bodyPr wrap="square" rtlCol="0">
            <a:spAutoFit/>
          </a:bodyPr>
          <a:lstStyle/>
          <a:p>
            <a:r>
              <a:rPr lang="en-US" sz="3200" b="1" dirty="0"/>
              <a:t>Log Activity And Alerts</a:t>
            </a:r>
          </a:p>
          <a:p>
            <a:endParaRPr lang="en-IN" sz="3200" b="1" dirty="0"/>
          </a:p>
        </p:txBody>
      </p:sp>
    </p:spTree>
    <p:extLst>
      <p:ext uri="{BB962C8B-B14F-4D97-AF65-F5344CB8AC3E}">
        <p14:creationId xmlns:p14="http://schemas.microsoft.com/office/powerpoint/2010/main" val="58522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784859"/>
            <a:ext cx="10834234" cy="612775"/>
          </a:xfrm>
        </p:spPr>
        <p:txBody>
          <a:bodyPr/>
          <a:lstStyle/>
          <a:p>
            <a:r>
              <a:rPr lang="en-US" dirty="0"/>
              <a:t>Log Correlation &amp; Timeline</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1700" b="1" dirty="0"/>
              <a:t>Correlated Attack Chain — Apr 8, 2026 (Evidence-Based)</a:t>
            </a:r>
          </a:p>
          <a:p>
            <a:pPr lvl="1"/>
            <a:r>
              <a:rPr lang="en-US" sz="1350" dirty="0"/>
              <a:t>18:23:36 │ Rule 2501 (L5) │ syslog: FAILED LOGIN from tty1 for wazuh-user │ groups: authentication_failed</a:t>
            </a:r>
          </a:p>
          <a:p>
            <a:pPr lvl="1"/>
            <a:r>
              <a:rPr lang="en-US" sz="1350" dirty="0"/>
              <a:t>18:23:46 │ Rule 5501 (L3) │ PAM: Login session opened for wazuh-user(uid=1000) │ firedtimes: 8</a:t>
            </a:r>
          </a:p>
          <a:p>
            <a:pPr lvl="1"/>
            <a:r>
              <a:rPr lang="en-US" sz="1350" dirty="0"/>
              <a:t>23:53:34 │ Rule 5503 (L5) │ PAM: User login failed │ pid=5757 │ decoder: pam</a:t>
            </a:r>
          </a:p>
          <a:p>
            <a:pPr lvl="1"/>
            <a:r>
              <a:rPr lang="en-US" sz="1350" dirty="0"/>
              <a:t>23:53:34 │ Rule 5557 (L5) │ unix_chkpwd: Password check failed │ agent: wazuh-server</a:t>
            </a:r>
          </a:p>
          <a:p>
            <a:pPr lvl="1"/>
            <a:r>
              <a:rPr lang="en-US" sz="1350" dirty="0"/>
              <a:t>23:53:46 │ Rule 80730 (L3) │ auditd: SELinux AVC denied {open/read/getattr} │ path: /var/lib/update-motd/motd │ firedtimes: 4–6</a:t>
            </a:r>
          </a:p>
          <a:p>
            <a:pPr lvl="1"/>
            <a:r>
              <a:rPr lang="en-US" sz="1350" dirty="0"/>
              <a:t>23:53:46 │ Rule 5501 (L3) │ PAM: Login session opened (2nd session) │ MITRE T1078 │ tactic: Initial Access + Persistence</a:t>
            </a:r>
          </a:p>
          <a:p>
            <a:r>
              <a:rPr lang="en-US" sz="1700" b="1" dirty="0"/>
              <a:t>Cross-Log Correlation Findings</a:t>
            </a:r>
          </a:p>
          <a:p>
            <a:pPr lvl="1"/>
            <a:r>
              <a:rPr lang="en-US" sz="1350" dirty="0"/>
              <a:t>Same pid=5757, comm=login traced across PAM (journald) AND auditd (AVC denial) — confirms unified login process activity</a:t>
            </a:r>
          </a:p>
          <a:p>
            <a:pPr lvl="1"/>
            <a:r>
              <a:rPr lang="en-US" sz="1350" dirty="0"/>
              <a:t>Rule group correlation: authentication_failed → pam+syslog → audit_selinux → authentication_success — complete kill chain traced</a:t>
            </a:r>
          </a:p>
          <a:p>
            <a:pPr lvl="1"/>
            <a:r>
              <a:rPr lang="en-US" sz="1350" dirty="0"/>
              <a:t>Compliance flags auto-mapped: PCI-DSS 10.2.4/10.2.5, HIPAA 164.312.b, NIST AU.14/AC.7, GDPR IV.32.2, TSC CC6.1–CC7.3</a:t>
            </a:r>
          </a:p>
          <a:p>
            <a:r>
              <a:rPr lang="en-US" sz="1700" b="1" dirty="0"/>
              <a:t>Threat Hunting View — 35 Events in 15-Minute Window</a:t>
            </a:r>
          </a:p>
          <a:p>
            <a:pPr lvl="1"/>
            <a:r>
              <a:rPr lang="en-US" sz="1350" dirty="0"/>
              <a:t>Timeline 23:39–23:54 UTC | Events escalate sharply at 23:53 — spike of 8 events in 30-second interval confirms automated/rapid login attempts</a:t>
            </a:r>
          </a:p>
        </p:txBody>
      </p:sp>
    </p:spTree>
    <p:extLst>
      <p:ext uri="{BB962C8B-B14F-4D97-AF65-F5344CB8AC3E}">
        <p14:creationId xmlns:p14="http://schemas.microsoft.com/office/powerpoint/2010/main" val="227245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ThreatTimeline"/>
          <p:cNvPicPr>
            <a:picLocks noChangeAspect="1"/>
          </p:cNvPicPr>
          <p:nvPr/>
        </p:nvPicPr>
        <p:blipFill>
          <a:blip r:embed="rId2"/>
          <a:stretch>
            <a:fillRect/>
          </a:stretch>
        </p:blipFill>
        <p:spPr>
          <a:xfrm>
            <a:off x="0" y="2175975"/>
            <a:ext cx="5886450" cy="3805724"/>
          </a:xfrm>
          <a:prstGeom prst="rect">
            <a:avLst/>
          </a:prstGeom>
        </p:spPr>
      </p:pic>
      <p:pic>
        <p:nvPicPr>
          <p:cNvPr id="21" name="LogContext"/>
          <p:cNvPicPr>
            <a:picLocks noChangeAspect="1"/>
          </p:cNvPicPr>
          <p:nvPr/>
        </p:nvPicPr>
        <p:blipFill>
          <a:blip r:embed="rId3"/>
          <a:stretch>
            <a:fillRect/>
          </a:stretch>
        </p:blipFill>
        <p:spPr>
          <a:xfrm>
            <a:off x="5971374" y="2175974"/>
            <a:ext cx="6144425" cy="3805725"/>
          </a:xfrm>
          <a:prstGeom prst="rect">
            <a:avLst/>
          </a:prstGeom>
        </p:spPr>
      </p:pic>
      <p:sp>
        <p:nvSpPr>
          <p:cNvPr id="3" name="TextBox 2">
            <a:extLst>
              <a:ext uri="{FF2B5EF4-FFF2-40B4-BE49-F238E27FC236}">
                <a16:creationId xmlns:a16="http://schemas.microsoft.com/office/drawing/2014/main" id="{317D683B-0BF2-824A-AA93-074C58B6EFD1}"/>
              </a:ext>
            </a:extLst>
          </p:cNvPr>
          <p:cNvSpPr txBox="1"/>
          <p:nvPr/>
        </p:nvSpPr>
        <p:spPr>
          <a:xfrm>
            <a:off x="400050" y="1028700"/>
            <a:ext cx="6959534" cy="584775"/>
          </a:xfrm>
          <a:prstGeom prst="rect">
            <a:avLst/>
          </a:prstGeom>
          <a:noFill/>
        </p:spPr>
        <p:txBody>
          <a:bodyPr wrap="none" rtlCol="0">
            <a:spAutoFit/>
          </a:bodyPr>
          <a:lstStyle/>
          <a:p>
            <a:r>
              <a:rPr lang="en-US" sz="3200" b="1" dirty="0"/>
              <a:t>Log Correlation &amp; Attack Chain Timeline</a:t>
            </a:r>
            <a:endParaRPr lang="en-IN" sz="3200" b="1" dirty="0"/>
          </a:p>
        </p:txBody>
      </p:sp>
    </p:spTree>
    <p:extLst>
      <p:ext uri="{BB962C8B-B14F-4D97-AF65-F5344CB8AC3E}">
        <p14:creationId xmlns:p14="http://schemas.microsoft.com/office/powerpoint/2010/main" val="1148784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Findings &amp; Impact Analysis</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sz="1700" b="1" dirty="0"/>
              <a:t>Confirmed Attack Pattern: Brute Force → Successful Login</a:t>
            </a:r>
          </a:p>
          <a:p>
            <a:pPr lvl="1"/>
            <a:r>
              <a:rPr lang="en-US" sz="1400" dirty="0"/>
              <a:t>From log evidence: FAILED LOGIN followed by Rule 5501 (session opened, firedtimes: 8) confirms repeated attempts leading to access</a:t>
            </a:r>
          </a:p>
          <a:p>
            <a:pPr lvl="1"/>
            <a:r>
              <a:rPr lang="en-US" sz="1400" dirty="0"/>
              <a:t>Affected account: wazuh-user (uid=1000) | Attack vector: Local tty1 terminal (physical/console access)</a:t>
            </a:r>
          </a:p>
          <a:p>
            <a:r>
              <a:rPr lang="en-US" sz="1700" b="1" dirty="0"/>
              <a:t>MITRE ATT&amp;CK Classification</a:t>
            </a:r>
          </a:p>
          <a:p>
            <a:pPr lvl="1"/>
            <a:r>
              <a:rPr lang="en-US" sz="1400" dirty="0"/>
              <a:t>T1078 — Valid Accounts (observed in log metadata: rule.mitre.id: T1078)</a:t>
            </a:r>
          </a:p>
          <a:p>
            <a:pPr lvl="1"/>
            <a:r>
              <a:rPr lang="en-US" sz="1400" dirty="0"/>
              <a:t>Tactics mapped: Defense Evasion, Persistence, Privilege Escalation, Initial Access (all from screenshot rule detail)</a:t>
            </a:r>
          </a:p>
          <a:p>
            <a:r>
              <a:rPr lang="en-US" sz="1700" b="1" dirty="0"/>
              <a:t>Compliance Violations Triggered</a:t>
            </a:r>
          </a:p>
          <a:p>
            <a:pPr lvl="1"/>
            <a:r>
              <a:rPr lang="en-US" sz="1400" dirty="0"/>
              <a:t>PCI-DSS 10.2.4 &amp; 10.2.5: Invalid logical access attempts logged and alerted</a:t>
            </a:r>
          </a:p>
          <a:p>
            <a:pPr lvl="1"/>
            <a:r>
              <a:rPr lang="en-US" sz="1400" dirty="0"/>
              <a:t>HIPAA 164.312.b: Audit controls — SELinux AVC and PAM logs captured the unauthorized access attempt</a:t>
            </a:r>
          </a:p>
          <a:p>
            <a:pPr lvl="1"/>
            <a:r>
              <a:rPr lang="en-US" sz="1400" dirty="0"/>
              <a:t>NIST 800-53 AU.14, AC.7: Session audit and access control limits both triggered and logged</a:t>
            </a:r>
          </a:p>
          <a:p>
            <a:r>
              <a:rPr lang="en-US" sz="1700" b="1" dirty="0"/>
              <a:t>Risk Assessment</a:t>
            </a:r>
          </a:p>
          <a:p>
            <a:pPr lvl="1"/>
            <a:r>
              <a:rPr lang="en-US" sz="1400" dirty="0"/>
              <a:t>Console-based attack (tty1) indicates physical or hypervisor-level access — high risk in production environment</a:t>
            </a:r>
          </a:p>
          <a:p>
            <a:pPr lvl="1"/>
            <a:r>
              <a:rPr lang="en-US" sz="1400" dirty="0"/>
              <a:t>SELinux AVC denials indicate system access controls are active; attacker unable to fully read /var/lib/update-motd/motd</a:t>
            </a:r>
          </a:p>
        </p:txBody>
      </p:sp>
    </p:spTree>
    <p:extLst>
      <p:ext uri="{BB962C8B-B14F-4D97-AF65-F5344CB8AC3E}">
        <p14:creationId xmlns:p14="http://schemas.microsoft.com/office/powerpoint/2010/main" val="2272459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Recommendations &amp; Conclusion</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lnSpcReduction="10000"/>
          </a:bodyPr>
          <a:lstStyle>
            <a:lvl1pPr>
              <a:defRPr>
                <a:solidFill>
                  <a:schemeClr val="bg2">
                    <a:lumMod val="10000"/>
                  </a:schemeClr>
                </a:solidFill>
              </a:defRPr>
            </a:lvl1pPr>
          </a:lstStyle>
          <a:p>
            <a:r>
              <a:rPr lang="en-US" sz="1700" b="1" dirty="0"/>
              <a:t>Recommendations (Evidence-Based)</a:t>
            </a:r>
          </a:p>
          <a:p>
            <a:pPr lvl="1"/>
            <a:r>
              <a:rPr lang="en-US" sz="1400" dirty="0"/>
              <a:t>Enable account lockout: Rules 5503/5557 fired repeatedly without auto-block — configure active response to lock wazuh-user after 3 failures on tty1</a:t>
            </a:r>
          </a:p>
          <a:p>
            <a:pPr lvl="1"/>
            <a:r>
              <a:rPr lang="en-US" sz="1400" dirty="0"/>
              <a:t>Restrict console access: tty1 login should be disabled for non-root service accounts; enforce PAM tty restrictions in /etc/pam.d/login</a:t>
            </a:r>
          </a:p>
          <a:p>
            <a:pPr lvl="1"/>
            <a:r>
              <a:rPr lang="en-US" sz="1400" dirty="0"/>
              <a:t>Tune SELinux: Rule 80730 AVC denials fire in permissive mode — switch to enforcing mode to actively block unauthorized file reads at pid=5757</a:t>
            </a:r>
          </a:p>
          <a:p>
            <a:pPr lvl="1"/>
            <a:r>
              <a:rPr lang="en-US" sz="1400" dirty="0"/>
              <a:t>Alert threshold tuning: Escalate Rule 2501 (auth failure) from Level 5 to Level 7+ to surface it in Medium alert category for faster SOC triage</a:t>
            </a:r>
          </a:p>
          <a:p>
            <a:pPr lvl="1"/>
            <a:r>
              <a:rPr lang="en-US" sz="1400" dirty="0"/>
              <a:t>Whitelist benign events: EventID 16384 Software Protection Platform Service restarts (Admin agent 004, IP 192.168.0.110) are scheduled tasks — suppress as false positives</a:t>
            </a:r>
          </a:p>
          <a:p>
            <a:pPr lvl="1"/>
            <a:r>
              <a:rPr lang="en-US" sz="1400" dirty="0"/>
              <a:t>Expand coverage: 1 active agent monitored — deploy Sysmon on Windows endpoints for process-level and network-level visibility</a:t>
            </a:r>
          </a:p>
          <a:p>
            <a:r>
              <a:rPr lang="en-US" sz="1700" b="1" dirty="0"/>
              <a:t>Conclusion</a:t>
            </a:r>
          </a:p>
          <a:p>
            <a:pPr lvl="1"/>
            <a:r>
              <a:rPr lang="en-US" sz="1400" dirty="0"/>
              <a:t>Wazuh SIEM successfully detected and correlated the brute-force → valid login attack chain (Apr 8, 2026, 18:23–23:53) across PAM, syslog and SELinux auditd</a:t>
            </a:r>
          </a:p>
          <a:p>
            <a:pPr lvl="1"/>
            <a:r>
              <a:rPr lang="en-US" sz="1400" dirty="0"/>
              <a:t>MITRE T1078 (Valid Accounts) confirmed — full compliance traceability across PCI-DSS, HIPAA, NIST 800-53, GDPR demonstrates Wazuh as a production-grade open-source SIEM</a:t>
            </a:r>
          </a:p>
          <a:p>
            <a:r>
              <a:rPr lang="en-US" sz="1700" b="1" dirty="0"/>
              <a:t>References</a:t>
            </a:r>
          </a:p>
          <a:p>
            <a:pPr lvl="1"/>
            <a:r>
              <a:rPr lang="en-US" sz="1300" dirty="0"/>
              <a:t>Wazuh Documentation: https://documentation.wazuh.com</a:t>
            </a:r>
          </a:p>
          <a:p>
            <a:pPr lvl="1"/>
            <a:r>
              <a:rPr lang="en-US" sz="1300" dirty="0"/>
              <a:t>MITRE ATT&amp;CK T1078: https://attack.mitre.org/techniques/T1078 | NIST SP 800-53: https://csrc.nist.gov</a:t>
            </a:r>
          </a:p>
        </p:txBody>
      </p:sp>
    </p:spTree>
    <p:extLst>
      <p:ext uri="{BB962C8B-B14F-4D97-AF65-F5344CB8AC3E}">
        <p14:creationId xmlns:p14="http://schemas.microsoft.com/office/powerpoint/2010/main" val="2272459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6DAD88-7EAC-378A-20CF-B3888B4E7129}"/>
              </a:ext>
            </a:extLst>
          </p:cNvPr>
          <p:cNvSpPr txBox="1"/>
          <p:nvPr/>
        </p:nvSpPr>
        <p:spPr>
          <a:xfrm>
            <a:off x="685800" y="3686175"/>
            <a:ext cx="4306115" cy="1107996"/>
          </a:xfrm>
          <a:prstGeom prst="rect">
            <a:avLst/>
          </a:prstGeom>
          <a:noFill/>
        </p:spPr>
        <p:txBody>
          <a:bodyPr wrap="none" rtlCol="0">
            <a:spAutoFit/>
          </a:bodyPr>
          <a:lstStyle/>
          <a:p>
            <a:r>
              <a:rPr lang="en-US" sz="6600" b="1" dirty="0"/>
              <a:t>Questions ?</a:t>
            </a:r>
            <a:endParaRPr lang="en-IN" sz="6600" b="1" dirty="0"/>
          </a:p>
        </p:txBody>
      </p:sp>
    </p:spTree>
    <p:extLst>
      <p:ext uri="{BB962C8B-B14F-4D97-AF65-F5344CB8AC3E}">
        <p14:creationId xmlns:p14="http://schemas.microsoft.com/office/powerpoint/2010/main" val="395461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
        <p:nvSpPr>
          <p:cNvPr id="2" name="TextBox 1">
            <a:extLst>
              <a:ext uri="{FF2B5EF4-FFF2-40B4-BE49-F238E27FC236}">
                <a16:creationId xmlns:a16="http://schemas.microsoft.com/office/drawing/2014/main" id="{50453BE5-28CD-317C-6E27-CC507414D17D}"/>
              </a:ext>
            </a:extLst>
          </p:cNvPr>
          <p:cNvSpPr txBox="1"/>
          <p:nvPr/>
        </p:nvSpPr>
        <p:spPr>
          <a:xfrm>
            <a:off x="8254786" y="5810250"/>
            <a:ext cx="3715761" cy="1200329"/>
          </a:xfrm>
          <a:prstGeom prst="rect">
            <a:avLst/>
          </a:prstGeom>
          <a:noFill/>
        </p:spPr>
        <p:txBody>
          <a:bodyPr wrap="none" rtlCol="0">
            <a:spAutoFit/>
          </a:bodyPr>
          <a:lstStyle/>
          <a:p>
            <a:pPr algn="ctr"/>
            <a:r>
              <a:rPr lang="en-US" sz="3600" b="1" dirty="0">
                <a:solidFill>
                  <a:schemeClr val="bg1"/>
                </a:solidFill>
              </a:rPr>
              <a:t>MOHAMMED ALI</a:t>
            </a:r>
          </a:p>
          <a:p>
            <a:pPr algn="ctr"/>
            <a:r>
              <a:rPr lang="en-US" b="1" dirty="0">
                <a:solidFill>
                  <a:schemeClr val="bg1"/>
                </a:solidFill>
              </a:rPr>
              <a:t>CYBERSECURITY &amp; ETHICAL HACKING</a:t>
            </a:r>
            <a:endParaRPr lang="en-IN" b="1" dirty="0">
              <a:solidFill>
                <a:schemeClr val="bg1"/>
              </a:solidFill>
            </a:endParaRPr>
          </a:p>
          <a:p>
            <a:endParaRPr lang="en-IN" dirty="0"/>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6927</TotalTime>
  <Words>1908</Words>
  <Application>Microsoft Office PowerPoint</Application>
  <PresentationFormat>Widescreen</PresentationFormat>
  <Paragraphs>132</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BIA Template</vt:lpstr>
      <vt:lpstr>PowerPoint Presentation</vt:lpstr>
      <vt:lpstr>Project Objective</vt:lpstr>
      <vt:lpstr>SIEM Tool Used: Wazuh</vt:lpstr>
      <vt:lpstr>Wazuh Dashboard </vt:lpstr>
      <vt:lpstr>Architecture &amp; Lab Setup</vt:lpstr>
      <vt:lpstr>Log Sources &amp; Data Collection</vt:lpstr>
      <vt:lpstr>Alert Detection</vt:lpstr>
      <vt:lpstr>PowerPoint Presentation</vt:lpstr>
      <vt:lpstr>SOC Investigation Steps</vt:lpstr>
      <vt:lpstr>PowerPoint Presentation</vt:lpstr>
      <vt:lpstr>Log Correlation &amp; Timeline</vt:lpstr>
      <vt:lpstr>PowerPoint Presentation</vt:lpstr>
      <vt:lpstr>Findings &amp; Impact Analysis</vt:lpstr>
      <vt:lpstr>Recommendations &amp; 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MOHAMMED ALI</cp:lastModifiedBy>
  <cp:revision>2256</cp:revision>
  <dcterms:created xsi:type="dcterms:W3CDTF">2020-12-23T13:36:00Z</dcterms:created>
  <dcterms:modified xsi:type="dcterms:W3CDTF">2026-04-17T06:01:09Z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